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8" r:id="rId7"/>
    <p:sldId id="264" r:id="rId8"/>
    <p:sldId id="270" r:id="rId9"/>
    <p:sldId id="263" r:id="rId10"/>
    <p:sldId id="271" r:id="rId11"/>
    <p:sldId id="262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647" y="1538755"/>
            <a:ext cx="7772400" cy="1470025"/>
          </a:xfrm>
        </p:spPr>
        <p:txBody>
          <a:bodyPr/>
          <a:lstStyle/>
          <a:p>
            <a:r>
              <a:rPr b="1" dirty="0">
                <a:solidFill>
                  <a:srgbClr val="C00000"/>
                </a:solidFill>
              </a:rPr>
              <a:t>Voice Driven Quote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287929" y="2737223"/>
            <a:ext cx="6400800" cy="1752600"/>
          </a:xfrm>
        </p:spPr>
        <p:txBody>
          <a:bodyPr/>
          <a:lstStyle/>
          <a:p>
            <a:endParaRPr dirty="0"/>
          </a:p>
          <a:p>
            <a:pPr marL="0" indent="0" algn="ctr">
              <a:buNone/>
              <a:defRPr sz="2000"/>
            </a:pPr>
            <a:r>
              <a:rPr b="1" dirty="0">
                <a:solidFill>
                  <a:schemeClr val="tx1"/>
                </a:solidFill>
              </a:rPr>
              <a:t>Shri Prakash Yadav</a:t>
            </a:r>
          </a:p>
          <a:p>
            <a:pPr marL="0" indent="0" algn="ctr">
              <a:buNone/>
              <a:defRPr sz="2000"/>
            </a:pPr>
            <a:r>
              <a:rPr lang="en-US" b="1" dirty="0">
                <a:solidFill>
                  <a:schemeClr val="tx1"/>
                </a:solidFill>
              </a:rPr>
              <a:t>Matricola:D03000084</a:t>
            </a:r>
          </a:p>
          <a:p>
            <a:pPr marL="0" indent="0" algn="ctr">
              <a:buNone/>
              <a:defRPr sz="2000"/>
            </a:pPr>
            <a:r>
              <a:rPr lang="en-US" b="1" dirty="0">
                <a:solidFill>
                  <a:schemeClr val="tx1"/>
                </a:solidFill>
              </a:rPr>
              <a:t>NLP Final Project</a:t>
            </a:r>
            <a:endParaRPr b="1" dirty="0">
              <a:solidFill>
                <a:schemeClr val="tx1"/>
              </a:solidFill>
            </a:endParaRPr>
          </a:p>
          <a:p>
            <a:pPr marL="0" indent="0" algn="ctr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38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Problem Statement</a:t>
            </a:r>
            <a:r>
              <a:rPr lang="en-US" sz="2400" b="1" dirty="0">
                <a:solidFill>
                  <a:srgbClr val="C00000"/>
                </a:solidFill>
              </a:rPr>
              <a:t> &amp; Objective</a:t>
            </a:r>
            <a:endParaRPr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908"/>
            <a:ext cx="8229600" cy="4958792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/>
            </a:pPr>
            <a:r>
              <a:rPr lang="en-US" sz="1600" dirty="0"/>
              <a:t>People often recall only fragments of famous quotes just a few words or phrases without remembering the full wording, the source, or the author. While generative AI can fill in these gaps, it frequently hallucinates or misattributes quotes. </a:t>
            </a:r>
          </a:p>
          <a:p>
            <a:pPr marL="0" indent="0" algn="just">
              <a:buNone/>
              <a:defRPr sz="2000"/>
            </a:pPr>
            <a:r>
              <a:rPr lang="en-US" sz="1600" dirty="0"/>
              <a:t>This project aims to build a voice driven assistant that listens to speech, identifies quote fragments or user intent, and retrieves the exact quote along with metadata from a graph database. </a:t>
            </a:r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r>
              <a:rPr lang="en-US" sz="1200" b="1" i="1" dirty="0"/>
              <a:t>“Selfishness is not living as one wishes to live, it is asking others to live as one wishes to live”</a:t>
            </a:r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endParaRPr lang="en-US" sz="1600" dirty="0"/>
          </a:p>
          <a:p>
            <a:pPr marL="0" indent="0" algn="just">
              <a:buNone/>
              <a:defRPr sz="2000"/>
            </a:pPr>
            <a:r>
              <a:rPr lang="en-US" sz="1200" b="1" i="1" dirty="0"/>
              <a:t>“I resolved from the beginning of my quest that I would not be misled by sentiment and desire into beliefs for which there was no good evidence.”</a:t>
            </a:r>
            <a:endParaRPr sz="12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40E61-C94E-127C-D4FD-A0BFB960E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39" y="3127254"/>
            <a:ext cx="8594167" cy="825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F0AA2F-B329-00A8-9F16-CD2BC1E62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8" y="4553569"/>
            <a:ext cx="8594167" cy="776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C19BEC-3810-3454-5CE3-DAE2148F4A42}"/>
              </a:ext>
            </a:extLst>
          </p:cNvPr>
          <p:cNvSpPr txBox="1"/>
          <p:nvPr/>
        </p:nvSpPr>
        <p:spPr>
          <a:xfrm>
            <a:off x="3566459" y="5789118"/>
            <a:ext cx="127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Mistral 7B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953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77" y="4721787"/>
            <a:ext cx="8770471" cy="1780988"/>
          </a:xfrm>
        </p:spPr>
        <p:txBody>
          <a:bodyPr>
            <a:normAutofit lnSpcReduction="10000"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Input Layer:</a:t>
            </a:r>
            <a:r>
              <a:rPr lang="en-US" altLang="en-US" sz="1400" dirty="0"/>
              <a:t> Mic + VAD -&gt; Whisper ASR for transcription.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Speaker Identification &amp; Registration: </a:t>
            </a:r>
            <a:r>
              <a:rPr lang="en-US" altLang="en-US" sz="1400" dirty="0"/>
              <a:t>Parallelly, voice encoding for speaker identification or registration.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Understanding Layer:</a:t>
            </a:r>
            <a:r>
              <a:rPr lang="en-US" altLang="en-US" sz="1400" dirty="0"/>
              <a:t> Extracts quote fragments, user intents, metadata queries, or control commands.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Router:</a:t>
            </a:r>
            <a:r>
              <a:rPr lang="en-US" altLang="en-US" sz="1400" dirty="0"/>
              <a:t> Handles control intents directly and deterministically, queries go to Neo4j Retriever.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Retrieval Layer:</a:t>
            </a:r>
            <a:r>
              <a:rPr lang="en-US" altLang="en-US" sz="1400" dirty="0"/>
              <a:t> Full-text search + relationships (SAID_BY, ABOUT, DISPUTED, MISATTRIBUTED).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Answer Layer:</a:t>
            </a:r>
            <a:r>
              <a:rPr lang="en-US" altLang="en-US" sz="1400" dirty="0"/>
              <a:t> Deterministic responses grounded in DB facts / LLM response( more generalized and robust but slow).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Personalization &amp; Output:</a:t>
            </a:r>
            <a:r>
              <a:rPr lang="en-US" altLang="en-US" sz="1400" dirty="0"/>
              <a:t> User ID + User </a:t>
            </a:r>
            <a:r>
              <a:rPr lang="en-US" altLang="en-US" sz="1400" dirty="0" err="1"/>
              <a:t>Prefs</a:t>
            </a:r>
            <a:r>
              <a:rPr lang="en-US" altLang="en-US" sz="1400" dirty="0"/>
              <a:t> -&gt; TTS with user’s voice settings.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CDED4-5E2F-7730-41B0-9EF847D3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4" y="894977"/>
            <a:ext cx="6997175" cy="3593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141" y="5697"/>
            <a:ext cx="8229600" cy="83100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</a:rPr>
              <a:t>Quote </a:t>
            </a:r>
            <a:r>
              <a:rPr sz="2400" b="1" dirty="0">
                <a:solidFill>
                  <a:srgbClr val="C00000"/>
                </a:solidFill>
              </a:rPr>
              <a:t>Data Extraction &amp;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61CAC6-BD47-1015-9A88-500827616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906" y="1000788"/>
            <a:ext cx="854934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Extracted ~30k quotes and metadata from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Wikiquote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dump using pattern rules (</a:t>
            </a:r>
            <a:r>
              <a:rPr lang="en-US" altLang="en-US" sz="1400" dirty="0"/>
              <a:t>*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quote, ** = source,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sub_headings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context).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Author attribution (canonical / misattributed / disputed / about).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EDA revealed issues: missing/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quotes, fragmented authors, trivial/short sources, duplicates.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Preprocessing fixes: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Recovered template pages, empty quotes etc.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invalid rows, duplicates, meaningless sources.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ropped very long quotes more than 1000 chars, sources were trimmed to 1000 chars.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 dataset: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27,799 clean, high-quality records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ready for Neo4j.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F5E12-CE76-6235-69E0-E379B21E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7" y="3646570"/>
            <a:ext cx="8432800" cy="2090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506" y="1765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Graph</a:t>
            </a:r>
            <a:r>
              <a:rPr lang="en-US" sz="2400" b="1" dirty="0">
                <a:solidFill>
                  <a:srgbClr val="C00000"/>
                </a:solidFill>
              </a:rPr>
              <a:t> Database</a:t>
            </a:r>
            <a:endParaRPr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3604"/>
            <a:ext cx="7838141" cy="3175821"/>
          </a:xfrm>
        </p:spPr>
        <p:txBody>
          <a:bodyPr>
            <a:normAutofit/>
          </a:bodyPr>
          <a:lstStyle/>
          <a:p>
            <a:endParaRPr sz="1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Database:</a:t>
            </a:r>
            <a:r>
              <a:rPr lang="en-US" altLang="en-US" sz="1400" dirty="0"/>
              <a:t> Neo4j used to store and query quotes and metadata.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Nodes:</a:t>
            </a:r>
            <a:endParaRPr lang="en-US" altLang="en-US" sz="1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Quote nodes: </a:t>
            </a:r>
            <a:r>
              <a:rPr lang="en-US" altLang="en-US" sz="1400" dirty="0"/>
              <a:t>Text, Source, </a:t>
            </a:r>
            <a:r>
              <a:rPr lang="en-US" altLang="en-US" sz="1400" dirty="0" err="1"/>
              <a:t>heading_context</a:t>
            </a:r>
            <a:r>
              <a:rPr lang="en-US" altLang="en-US" sz="1400" dirty="0"/>
              <a:t>, status (canonical / about / misattributed / disputed).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Person nodes: </a:t>
            </a:r>
            <a:r>
              <a:rPr lang="en-US" altLang="en-US" sz="1400" dirty="0"/>
              <a:t>Stores authors or entity linked to quote.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Relationships: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The Quote and Person nodes are connected with semantic relationships.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i="1" dirty="0"/>
              <a:t>SAID_BY, ABOUT, MISATTRIBUTED_TO, DISPUTED_WITH.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Full-Text Index:</a:t>
            </a:r>
            <a:endParaRPr lang="en-US" altLang="en-US" sz="1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Created Lucene based full-text index </a:t>
            </a:r>
            <a:r>
              <a:rPr lang="en-US" altLang="en-US" sz="1400" i="1" dirty="0" err="1"/>
              <a:t>quoteTextFT</a:t>
            </a:r>
            <a:r>
              <a:rPr lang="en-US" altLang="en-US" sz="1400" i="1" dirty="0"/>
              <a:t> for </a:t>
            </a:r>
            <a:r>
              <a:rPr lang="en-US" altLang="en-US" sz="1400" dirty="0"/>
              <a:t>fast search.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Retrieval:</a:t>
            </a:r>
            <a:endParaRPr lang="en-US" altLang="en-US" sz="1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retrieval framework combines full-text index with graph traversal.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BC2318-DDD1-60E6-8DB8-A0B8BBC4B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25" y="5684101"/>
            <a:ext cx="2979386" cy="700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94970E-08FA-C272-15FA-6999F61B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25" y="4210983"/>
            <a:ext cx="8462749" cy="1216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91A0CC-8E6D-A5D4-66D1-857B88947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89" y="1483413"/>
            <a:ext cx="4857811" cy="40956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2F47DB-2667-A33D-971D-2DFA936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156" y="3703675"/>
            <a:ext cx="2467459" cy="1875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BBBFDB-ED64-E6EF-CFDB-57EBAA36E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156" y="1483413"/>
            <a:ext cx="2467459" cy="1945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2A8A94C-A3F2-E84D-DB92-A037A8354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80" y="39542"/>
            <a:ext cx="8134043" cy="1023191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Graph</a:t>
            </a:r>
            <a:r>
              <a:rPr lang="en-US" sz="2400" b="1" dirty="0">
                <a:solidFill>
                  <a:srgbClr val="C00000"/>
                </a:solidFill>
              </a:rPr>
              <a:t> Database</a:t>
            </a:r>
            <a:endParaRPr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45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8" y="114508"/>
            <a:ext cx="8229600" cy="574021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Voice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85CD0-9AC4-E901-C50C-5C0F99A27919}"/>
              </a:ext>
            </a:extLst>
          </p:cNvPr>
          <p:cNvSpPr txBox="1"/>
          <p:nvPr/>
        </p:nvSpPr>
        <p:spPr>
          <a:xfrm>
            <a:off x="126356" y="803261"/>
            <a:ext cx="888232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/>
              <a:t>Audio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Capture: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WebRTC VAD gate on the mic stream. 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Recording stops after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500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ms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silence.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Max recording length is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25s. </a:t>
            </a:r>
            <a:endParaRPr lang="en-US" altLang="en-US" sz="1400" dirty="0"/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The captured audio is transcribed with Whisper AI model.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Speaker Registration &amp; Identification: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If the speaker utters “register” command, then the enrollment procedure is initiated.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Speaker enrolls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 short text readings</a:t>
            </a:r>
            <a:r>
              <a:rPr lang="en-US" altLang="en-US" sz="1400" dirty="0"/>
              <a:t>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Recordings are encoded with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SpeechBrain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model(192 -D) and centroid embedding is saved.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Speaker Identification by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cosine similarity </a:t>
            </a:r>
            <a:r>
              <a:rPr lang="en-US" altLang="en-US" sz="1400" dirty="0"/>
              <a:t>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stored centroids</a:t>
            </a:r>
            <a:r>
              <a:rPr lang="en-US" altLang="en-US" sz="1400" dirty="0"/>
              <a:t>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When a user is recognized, the system automatically switches to that user’s session &amp; preferences.</a:t>
            </a:r>
            <a:endParaRPr lang="en-US" altLang="en-US" sz="1400" dirty="0"/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ccept if similarity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score ≥ 0.65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duration ≥ 0.8 s.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Otherwise, keep current session active or default setting.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Prompts &amp; Controls Commands: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“register”, “who said…”,  “finish the quote…” etc.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ontrols commands: “set my voice to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Zira/David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”, “set my rate to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slow/medium/fast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”, “make it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louder/quieter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”, etc.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TTS &amp; Personalization: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Loading more robust personalized TTS models caused system crash.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Used simpler personalization approach, pyttsx3 with voices David/Zira.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Per-user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preferences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(voice, rate, volume) are saved in a JSON files.</a:t>
            </a:r>
          </a:p>
          <a:p>
            <a:pPr marL="74295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 </a:t>
            </a:r>
            <a:r>
              <a:rPr lang="en-US" altLang="en-US" sz="1400" dirty="0"/>
              <a:t>successful identification these preferences are used to generate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26AC-D5D3-4529-13EC-9B9C4DB2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6D26-9B8A-BD8C-1571-A378F643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28" y="86827"/>
            <a:ext cx="8229600" cy="574021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Voice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EFF13-CE78-C75D-9235-A09AAD743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B9FD5-DA22-98ED-27BB-2D00E86634C6}"/>
              </a:ext>
            </a:extLst>
          </p:cNvPr>
          <p:cNvSpPr txBox="1"/>
          <p:nvPr/>
        </p:nvSpPr>
        <p:spPr>
          <a:xfrm>
            <a:off x="170328" y="627530"/>
            <a:ext cx="8794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D7295-8243-6A3D-5BA3-BEFA9E405E70}"/>
              </a:ext>
            </a:extLst>
          </p:cNvPr>
          <p:cNvSpPr txBox="1"/>
          <p:nvPr/>
        </p:nvSpPr>
        <p:spPr>
          <a:xfrm>
            <a:off x="179295" y="796807"/>
            <a:ext cx="879437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Control Commands Ex: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Speaker Enrollment: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User Preferences</a:t>
            </a:r>
            <a:r>
              <a:rPr lang="en-US" altLang="en-US" sz="1600" dirty="0"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CBEA7-7FD4-AD8B-1902-EB6785E1B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14" y="2552619"/>
            <a:ext cx="8488144" cy="1182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CA3D95-3475-913B-8564-FFC1BEC5E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14" y="1145535"/>
            <a:ext cx="7447680" cy="811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3FB1F1-719D-AAD0-1FC5-F866BD1E8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14" y="4355583"/>
            <a:ext cx="8488144" cy="1705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576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156" y="195834"/>
            <a:ext cx="8229600" cy="478397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Language Understanding &amp; Answering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871A17-1DD8-CA0C-D153-F37C42F122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6332" y="797510"/>
            <a:ext cx="778306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Fragment Extraction: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LLM span extractor(Mistral 7B) pulls only the quote fragment from the user’s sentence.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Removes commands/author names, </a:t>
            </a:r>
            <a:r>
              <a:rPr lang="en-US" altLang="en-US" sz="1400" dirty="0"/>
              <a:t>and only accepts fragments with </a:t>
            </a:r>
            <a:r>
              <a:rPr lang="en-US" sz="1400" dirty="0"/>
              <a:t>at least 3 meaningful quote 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Intent Mapping (Regex)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Detects user intent without needing an LLM.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Maps natural language phrases into clear internal intents.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Fast and deterministic, ideal for structured quote queries.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“who said” / “who wrote” maps to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said_by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“finish it” / “complete” maps to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finish_quote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“where from/source” </a:t>
            </a:r>
            <a:r>
              <a:rPr lang="en-US" altLang="en-US" sz="1400" dirty="0"/>
              <a:t>maps 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source.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“About whom</a:t>
            </a:r>
            <a:r>
              <a:rPr lang="en-US" altLang="en-US" sz="1400" i="1" dirty="0"/>
              <a:t>” </a:t>
            </a:r>
            <a:r>
              <a:rPr lang="en-US" altLang="en-US" sz="1400" dirty="0"/>
              <a:t>maps to </a:t>
            </a:r>
            <a:r>
              <a:rPr lang="en-US" altLang="en-US" sz="1400" i="1" dirty="0"/>
              <a:t>about.</a:t>
            </a:r>
          </a:p>
          <a:p>
            <a:pPr marL="45720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400" i="1" dirty="0"/>
              <a:t>Overall: fragment decides search, intent decides action.”</a:t>
            </a:r>
            <a:endParaRPr lang="en-US" altLang="en-US" sz="1400" i="1" dirty="0"/>
          </a:p>
          <a:p>
            <a:pPr marL="45720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Intent </a:t>
            </a:r>
            <a:r>
              <a:rPr lang="en-US" altLang="en-US" sz="1400" b="1" dirty="0"/>
              <a:t>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outer: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If a quote fragment exists, then perform DB search.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If no fragment is found but the user session has context, then it is treated as follow-up question (“ who wrote?”).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If no fragment and no context, then ask the user for more words (“Give a few words”).</a:t>
            </a:r>
          </a:p>
          <a:p>
            <a:pPr marL="45720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400" dirty="0"/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Session &amp; Speaker Stickiness: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Each speaker has their own quote context.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Follow-ups stick to the same user’s last quote.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A35C-39F3-1CE7-AA06-8ADEBA82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8E26-CFD1-3556-30B3-FBFE9026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56" y="195834"/>
            <a:ext cx="8229600" cy="478397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Language Understanding &amp; Answering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D05197-62E9-DFF6-9722-0632C793F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6075" y="1058323"/>
            <a:ext cx="7783061" cy="431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Answer generation – Two Paths: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/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Deterministic:-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Uses a rule-based template that reads only the fields stored in the database results.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IN" sz="1400" b="1" dirty="0" err="1"/>
              <a:t>Behavior</a:t>
            </a:r>
            <a:r>
              <a:rPr lang="en-IN" sz="1400" b="1" dirty="0"/>
              <a:t>: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/>
              <a:t>“Who said it?”</a:t>
            </a:r>
            <a:r>
              <a:rPr lang="en-US" sz="1400" dirty="0"/>
              <a:t> -&gt; returns the exact name from the </a:t>
            </a:r>
            <a:r>
              <a:rPr lang="en-US" sz="1400" i="1" dirty="0"/>
              <a:t>SAID_BY </a:t>
            </a:r>
            <a:r>
              <a:rPr lang="en-US" sz="1400" dirty="0"/>
              <a:t>field.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/>
              <a:t>“What’s the source?”</a:t>
            </a:r>
            <a:r>
              <a:rPr lang="en-US" sz="1400" dirty="0"/>
              <a:t> -&gt; returns the </a:t>
            </a:r>
            <a:r>
              <a:rPr lang="en-US" sz="1400" i="1" dirty="0"/>
              <a:t>source</a:t>
            </a:r>
            <a:r>
              <a:rPr lang="en-US" sz="1400" dirty="0"/>
              <a:t> field only.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/>
              <a:t>“Finish the quote…..”</a:t>
            </a:r>
            <a:r>
              <a:rPr lang="en-US" sz="1400" dirty="0"/>
              <a:t> -&gt; returns the </a:t>
            </a:r>
            <a:r>
              <a:rPr lang="en-US" sz="1400" i="1" dirty="0"/>
              <a:t>exact quote text</a:t>
            </a:r>
            <a:r>
              <a:rPr lang="en-US" sz="1400" dirty="0"/>
              <a:t>.</a:t>
            </a:r>
          </a:p>
          <a:p>
            <a:pPr lvl="2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Find the quote… -&gt; </a:t>
            </a:r>
            <a:r>
              <a:rPr lang="en-US" altLang="en-US" sz="1400" dirty="0"/>
              <a:t> </a:t>
            </a:r>
            <a:r>
              <a:rPr lang="en-US" altLang="en-US" sz="1400" i="1" dirty="0"/>
              <a:t>full quote + author + source.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Very fast, reliable and zero hallucination because it uses only graph facts.</a:t>
            </a:r>
          </a:p>
          <a:p>
            <a:pPr marL="45720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/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LLM (flag </a:t>
            </a:r>
            <a:r>
              <a:rPr lang="en-US" sz="1400" dirty="0"/>
              <a:t>USE_LLM_ANSWERS =1</a:t>
            </a:r>
            <a:r>
              <a:rPr lang="en-US" altLang="en-US" sz="1400" b="1" dirty="0"/>
              <a:t>):-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Reranked DB_RESULTS passed to LLM(Mistral 7B).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b="1" dirty="0"/>
              <a:t>Strict System Prompt: </a:t>
            </a:r>
            <a:r>
              <a:rPr lang="en-US" sz="1400" dirty="0"/>
              <a:t>Must use only DB results, no external knowledge.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Used to answer in natural sentences while keeping all facts from the graph.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400" b="1" dirty="0"/>
              <a:t>Examples:</a:t>
            </a:r>
          </a:p>
          <a:p>
            <a:pPr lvl="2" algn="just"/>
            <a:r>
              <a:rPr lang="en-US" sz="1200" dirty="0"/>
              <a:t>Turns "Albert Einstein. Unknown source." into “It was said by Albert Einstein.”</a:t>
            </a:r>
          </a:p>
          <a:p>
            <a:pPr lvl="2" algn="just"/>
            <a:r>
              <a:rPr lang="en-US" sz="1200" dirty="0"/>
              <a:t>Turns the raw quote + author into  “Here’s the full quote by Einstein, from </a:t>
            </a:r>
            <a:r>
              <a:rPr lang="en-US" sz="1200" i="1" dirty="0"/>
              <a:t>&lt;source</a:t>
            </a:r>
            <a:r>
              <a:rPr lang="en-US" sz="1200" dirty="0"/>
              <a:t>&gt;.”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889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435" y="167614"/>
            <a:ext cx="8229600" cy="520232"/>
          </a:xfrm>
        </p:spPr>
        <p:txBody>
          <a:bodyPr>
            <a:normAutofit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Retrieval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435" y="743696"/>
            <a:ext cx="8229600" cy="3080124"/>
          </a:xfrm>
        </p:spPr>
        <p:txBody>
          <a:bodyPr>
            <a:normAutofit/>
          </a:bodyPr>
          <a:lstStyle/>
          <a:p>
            <a:pPr algn="just"/>
            <a:r>
              <a:rPr lang="en-IN" sz="1400" b="1" dirty="0"/>
              <a:t>Quote Search:</a:t>
            </a:r>
            <a:r>
              <a:rPr lang="en-IN" sz="1400" dirty="0"/>
              <a:t> Uses Lucene index (</a:t>
            </a:r>
            <a:r>
              <a:rPr lang="en-IN" sz="1400" dirty="0" err="1"/>
              <a:t>quoteTextFT</a:t>
            </a:r>
            <a:r>
              <a:rPr lang="en-IN" sz="1400" dirty="0"/>
              <a:t>) with multiple quote fragment styles (exact, token, and fuzzy matching).</a:t>
            </a:r>
          </a:p>
          <a:p>
            <a:pPr algn="just"/>
            <a:r>
              <a:rPr lang="en-IN" sz="1400" b="1" dirty="0"/>
              <a:t>Candidate Enrichment:</a:t>
            </a:r>
            <a:r>
              <a:rPr lang="en-IN" sz="1400" dirty="0"/>
              <a:t> Pulls Quotes text, metadata, and linked people along with relations (who said it, about, misattributed, disputed).</a:t>
            </a:r>
          </a:p>
          <a:p>
            <a:pPr algn="just"/>
            <a:r>
              <a:rPr lang="en-IN" sz="1400" b="1" dirty="0"/>
              <a:t>Reranking:</a:t>
            </a:r>
            <a:r>
              <a:rPr lang="en-IN" sz="1400" dirty="0"/>
              <a:t> Scores candidates by token coverage, Lucene score, and phrase bonus, best match is selected.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400" b="1" dirty="0"/>
              <a:t> </a:t>
            </a:r>
            <a:r>
              <a:rPr lang="en-US" sz="1400" b="1" i="1" dirty="0" err="1"/>
              <a:t>final_score</a:t>
            </a:r>
            <a:r>
              <a:rPr lang="en-US" sz="1400" b="1" i="1" dirty="0"/>
              <a:t> = 0.55*(</a:t>
            </a:r>
            <a:r>
              <a:rPr lang="en-US" sz="1400" b="1" i="1" dirty="0" err="1"/>
              <a:t>token_coverage</a:t>
            </a:r>
            <a:r>
              <a:rPr lang="en-US" sz="1400" b="1" i="1" dirty="0"/>
              <a:t>) + 0.35*(</a:t>
            </a:r>
            <a:r>
              <a:rPr lang="en-US" sz="1400" b="1" i="1" dirty="0" err="1"/>
              <a:t>norm_ft_score</a:t>
            </a:r>
            <a:r>
              <a:rPr lang="en-US" sz="1400" b="1" i="1" dirty="0"/>
              <a:t>) + 0.10*(</a:t>
            </a:r>
            <a:r>
              <a:rPr lang="en-US" sz="1400" b="1" i="1" dirty="0" err="1"/>
              <a:t>phrase_bonus</a:t>
            </a:r>
            <a:r>
              <a:rPr lang="en-US" sz="1400" b="1" i="1" dirty="0"/>
              <a:t>)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400" dirty="0"/>
              <a:t>Lucene score alone is not reliable for short fragments.</a:t>
            </a:r>
            <a:endParaRPr lang="en-IN" sz="1400" b="1" i="1" dirty="0"/>
          </a:p>
          <a:p>
            <a:pPr algn="just"/>
            <a:r>
              <a:rPr lang="en-IN" sz="1400" b="1" dirty="0"/>
              <a:t>Output:</a:t>
            </a:r>
            <a:endParaRPr lang="en-IN" sz="1400" dirty="0"/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/>
              <a:t>Returns a single best candidate with  max </a:t>
            </a:r>
            <a:r>
              <a:rPr lang="en-US" altLang="en-US" sz="1400" i="1" dirty="0" err="1"/>
              <a:t>final_score</a:t>
            </a:r>
            <a:r>
              <a:rPr lang="en-US" altLang="en-US" sz="1400" i="1" dirty="0"/>
              <a:t>.</a:t>
            </a:r>
          </a:p>
          <a:p>
            <a:pPr algn="just"/>
            <a:r>
              <a:rPr lang="en-IN" sz="1400" b="1" dirty="0"/>
              <a:t>Advantage:</a:t>
            </a:r>
            <a:r>
              <a:rPr lang="en-IN" sz="1400" dirty="0"/>
              <a:t> Robust to ASR noise and little phrase variations.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FA531-2BF8-6026-9CBD-58255098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09" y="3678144"/>
            <a:ext cx="7998852" cy="275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03" y="110284"/>
            <a:ext cx="8229600" cy="400703"/>
          </a:xfrm>
        </p:spPr>
        <p:txBody>
          <a:bodyPr>
            <a:normAutofit fontScale="90000"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Evaluation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118" y="510987"/>
            <a:ext cx="8229600" cy="4053541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5600" dirty="0"/>
              <a:t>Focused only on Retrieval &amp; Answering, since Whisper, </a:t>
            </a:r>
            <a:r>
              <a:rPr lang="en-US" sz="5600" dirty="0" err="1"/>
              <a:t>SpeechBrain</a:t>
            </a:r>
            <a:r>
              <a:rPr lang="en-US" sz="5600" dirty="0"/>
              <a:t>, and pyttsx3 are pre-build libraries.</a:t>
            </a:r>
          </a:p>
          <a:p>
            <a:pPr algn="just"/>
            <a:r>
              <a:rPr lang="en-US" sz="5600" b="1" dirty="0"/>
              <a:t>Retrieval Performance:</a:t>
            </a:r>
            <a:endParaRPr lang="en-US" sz="56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Top-1 accuracy: 93.7%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Top-5 recall: 96.8%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MRR@5: 0.95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Median latency: 22 </a:t>
            </a:r>
            <a:r>
              <a:rPr lang="en-US" sz="5600" dirty="0" err="1"/>
              <a:t>ms.</a:t>
            </a:r>
            <a:endParaRPr lang="en-US" sz="5600" dirty="0"/>
          </a:p>
          <a:p>
            <a:pPr algn="just"/>
            <a:r>
              <a:rPr lang="en-US" sz="5600" b="1" dirty="0"/>
              <a:t>Speaker Recognition:</a:t>
            </a:r>
            <a:endParaRPr lang="en-US" sz="56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Tested with 5 different speakers.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Accurate when speech is long &amp; environment consistent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Minor errors if speech is short or recorded in different environments</a:t>
            </a:r>
          </a:p>
          <a:p>
            <a:pPr algn="just"/>
            <a:r>
              <a:rPr lang="en-US" sz="5600" b="1" dirty="0"/>
              <a:t>Human Interaction Results:</a:t>
            </a:r>
            <a:endParaRPr lang="en-US" sz="56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Successfully, completes quotes and answers metadata questions.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Correctly answered follow-ups from context (“who said this?”)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Repeated quotes reliably, showing session stickiness</a:t>
            </a:r>
          </a:p>
          <a:p>
            <a:pPr algn="just"/>
            <a:r>
              <a:rPr lang="en-US" sz="5600" b="1" dirty="0"/>
              <a:t>Limitations</a:t>
            </a:r>
            <a:endParaRPr lang="en-US" sz="5600" dirty="0"/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Short queries often fail because they lack enough signal for retrieval.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5600" dirty="0"/>
              <a:t>Some sources are noisy or missing (</a:t>
            </a:r>
            <a:r>
              <a:rPr lang="en-US" sz="5600" dirty="0" err="1"/>
              <a:t>NaN</a:t>
            </a:r>
            <a:r>
              <a:rPr lang="en-US" sz="5600" dirty="0"/>
              <a:t> values) due to </a:t>
            </a:r>
            <a:r>
              <a:rPr lang="en-IN" sz="5600" dirty="0" err="1"/>
              <a:t>Wikiquote</a:t>
            </a:r>
            <a:r>
              <a:rPr lang="en-IN" sz="5600" dirty="0"/>
              <a:t> inconsistencies</a:t>
            </a:r>
            <a:r>
              <a:rPr lang="en-US" sz="5600" dirty="0"/>
              <a:t>.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676CB-CE8F-1202-048D-55DAE2866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0" y="4833302"/>
            <a:ext cx="8085427" cy="1704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270" y="376797"/>
            <a:ext cx="8229600" cy="376797"/>
          </a:xfrm>
        </p:spPr>
        <p:txBody>
          <a:bodyPr>
            <a:normAutofit fontScale="90000"/>
          </a:bodyPr>
          <a:lstStyle/>
          <a:p>
            <a:pPr algn="l"/>
            <a:r>
              <a:rPr sz="2400" b="1" dirty="0">
                <a:solidFill>
                  <a:srgbClr val="C00000"/>
                </a:solidFill>
              </a:rPr>
              <a:t>Conclusion &amp; 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B485B5-6150-3374-3714-9C3556079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9575" y="995631"/>
            <a:ext cx="808299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a voice driven assistant that combines a knowledge graph, retrieval, and a dialogue logic.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Regex-based decision rules kept the system fast and responsive on modest hardware while, LLM based answering sounds more natural and humanlike.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LLM used only for fragment extraction and </a:t>
            </a:r>
            <a:r>
              <a:rPr lang="en-IN" sz="1600" dirty="0"/>
              <a:t>natural answer phrasing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experiments with full 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LLM-driven </a:t>
            </a:r>
            <a:r>
              <a:rPr lang="en-US" altLang="en-US" sz="1600"/>
              <a:t>routing</a:t>
            </a:r>
            <a:r>
              <a:rPr kumimoji="0" lang="en-US" altLang="en-US" sz="16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were too slow locally.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Strengths: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retrieval, fact-grounded answers, multi-turn interaction, personalized voice settings.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Trade-offs: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Regex rules are brittle and must be handcrafted, system sometimes misses fuzzier phrasing.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direction: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Shift toward a fully LLM-driven router as compute improves.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 more natural, flexible conversation handling and better generalization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1600" dirty="0"/>
              <a:t>Ex:- “Tell me a quote about Einstein”.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5110</TotalTime>
  <Words>1514</Words>
  <Application>Microsoft Office PowerPoint</Application>
  <PresentationFormat>On-screen Show (4:3)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Voice Driven Quote Assistant</vt:lpstr>
      <vt:lpstr>Problem Statement &amp; Objective</vt:lpstr>
      <vt:lpstr>System Architecture</vt:lpstr>
      <vt:lpstr>Quote Data Extraction &amp; Preprocessing</vt:lpstr>
      <vt:lpstr>Graph Database</vt:lpstr>
      <vt:lpstr>Graph Database</vt:lpstr>
      <vt:lpstr>Voice Interface</vt:lpstr>
      <vt:lpstr>Voice Interface</vt:lpstr>
      <vt:lpstr>Language Understanding &amp; Answering</vt:lpstr>
      <vt:lpstr>Language Understanding &amp; Answering</vt:lpstr>
      <vt:lpstr>Retrieval Module</vt:lpstr>
      <vt:lpstr>Evaluation &amp; Results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 Prakash Yadav</cp:lastModifiedBy>
  <cp:revision>167</cp:revision>
  <dcterms:created xsi:type="dcterms:W3CDTF">2013-01-27T09:14:16Z</dcterms:created>
  <dcterms:modified xsi:type="dcterms:W3CDTF">2025-12-02T10:43:06Z</dcterms:modified>
  <cp:category/>
</cp:coreProperties>
</file>